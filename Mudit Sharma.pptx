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1" r:id="rId4"/>
    <p:sldId id="262" r:id="rId5"/>
    <p:sldId id="263" r:id="rId6"/>
    <p:sldId id="264" r:id="rId7"/>
    <p:sldId id="257" r:id="rId8"/>
    <p:sldId id="265" r:id="rId9"/>
    <p:sldId id="266" r:id="rId10"/>
    <p:sldId id="267" r:id="rId11"/>
    <p:sldId id="259" r:id="rId12"/>
    <p:sldId id="269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3"/>
    <p:restoredTop sz="94767"/>
  </p:normalViewPr>
  <p:slideViewPr>
    <p:cSldViewPr snapToGrid="0">
      <p:cViewPr>
        <p:scale>
          <a:sx n="114" d="100"/>
          <a:sy n="114" d="100"/>
        </p:scale>
        <p:origin x="146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CFDA-5148-6E54-7DE9-4B95C9BF3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17374-C09F-25F6-6645-C9616D66C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A4EAE-B37E-19C6-2572-1B58AA64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5866-5FA7-286E-9E51-F8C7F4337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8BD76-CB91-65C8-A124-92B175B7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B69A-8B81-09AA-1F67-CCC6B642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D8EC1-D7D6-820B-DE23-61C50A8C6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0BDEB-DD01-BB59-7564-2DE797E9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721D0-646D-8DA9-51A6-D1B5AFE6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ECBA7-63FF-5A7A-426F-20372E38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7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D23F-ECD9-4CD0-6991-738C6A62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F8AF4-9861-0056-0376-4E5E32520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613C1-2A7A-8D53-71F9-063E1D0C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3A688-06B2-BFE1-17D2-A42A9F57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2DD45-CCC8-F161-8CD4-8DCF2DB1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4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156A-C480-FD06-600B-BF4682C2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85FE7-019A-0431-132B-A544E1AFA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FDFD3-E9BC-A6B9-B47D-319A094CB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5E4D8-0B6E-0BC6-B73B-A6884131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C7BE7-765F-DD7A-5FC1-5F6E69A7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92BBD-B653-8787-C3D5-4597E0AE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7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27FC-5066-D14E-F05E-817CB8A9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DD765-4B5F-A609-D732-690538D62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0D632-4878-DE81-6B15-379D3236B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224DC-66F7-C23B-410B-D0C3C4B8E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6A3F2A-90B9-4E77-6E6A-D33F38046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5445EA-24C1-4B9B-B1D6-C54B4967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0D172-339A-4BC7-DB7D-C8E560C5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0FBAC-8F0A-BB81-A9D6-E5436A5D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5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E573-DD1A-6B96-C675-A74C1718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81AFA-C2A1-CF7D-9D8E-526E1A9B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2A2B9-AF23-CAC5-2EDF-8E22CCFD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6DF01-2DAB-264A-9FB5-DADF8266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7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873B1-667B-F6AB-B66E-B48A73F8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128B1-EA9A-06E1-52E6-917D3459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7230B-ADB3-3D70-9CBF-7A04B0B1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8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E005-83BB-A4C1-2F6C-F5CDD368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384E-5901-1C82-A136-C021F8A72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BAD8E-4383-FEE6-197D-7750FE7D4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7C23F-507E-A162-584D-355F413B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82A10-2E38-7EE2-561D-3F3E9ABD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A5360-5749-FFB7-AFEA-05C9F767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2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32B4-0045-88AE-7FBC-C01BAE86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BAC051-9EBE-E823-A497-ED24823AA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9B71E-7F33-2378-49AB-720A9CEB9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33B31-8CE8-4E92-B854-D82D2861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6F6CF-EEE0-267C-6061-84FAF282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D0A35-9DB3-1BFC-39AD-1A442699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0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8469-ED5F-1002-BA0E-F3D27EDA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DB176-97D5-126C-90BA-75AD74CD8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A0E69-FFCD-8636-9CAC-BE55DE5A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48E9A-408A-86B5-12F7-47D752CD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934D3-D1F5-FB51-9415-BD7F22D0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4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A5FDD-67D7-E830-A310-45492A208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7D08-31CB-60CE-D0A8-1DB278D43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1787-D907-3510-32D1-8C9B9A1A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B8D12-B0DA-1C59-EE45-03B71F97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95BF9-C70A-AE8E-65E0-11852995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9C0DE-648B-D584-1AB4-EBD2B041D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3AC19-4B30-9FB3-AB57-67FF0539A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198DC-80DB-0AD0-BDBA-209AB2C15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C244E-5C54-3A43-9549-5743C42CA74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BABB9-1360-A416-0768-83205CE81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67BAC-A50F-FF8F-9602-F0F3B0CA8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B8216-7DC8-DB46-BB06-8B939016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1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1207C0-D734-E32F-D2D4-608B01B23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F0955D-DEE1-2A8D-DBB0-6566924DBF70}"/>
              </a:ext>
            </a:extLst>
          </p:cNvPr>
          <p:cNvSpPr txBox="1"/>
          <p:nvPr/>
        </p:nvSpPr>
        <p:spPr>
          <a:xfrm>
            <a:off x="122663" y="5359015"/>
            <a:ext cx="3389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77"/>
              </a:rPr>
              <a:t>Presented By:-</a:t>
            </a:r>
          </a:p>
          <a:p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77"/>
              </a:rPr>
              <a:t>Mudit Sharma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E5732-16D7-5458-C32A-7D32FE8ADFBA}"/>
              </a:ext>
            </a:extLst>
          </p:cNvPr>
          <p:cNvSpPr txBox="1"/>
          <p:nvPr/>
        </p:nvSpPr>
        <p:spPr>
          <a:xfrm>
            <a:off x="5969621" y="5365445"/>
            <a:ext cx="60997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77"/>
              </a:rPr>
              <a:t>Presented To:-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77"/>
              </a:rPr>
              <a:t>Muvendiran Sir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77"/>
              </a:rPr>
              <a:t>(Mentor)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DB74A-FC62-84AF-3842-6A1BB9E1DA72}"/>
              </a:ext>
            </a:extLst>
          </p:cNvPr>
          <p:cNvSpPr txBox="1"/>
          <p:nvPr/>
        </p:nvSpPr>
        <p:spPr>
          <a:xfrm>
            <a:off x="481322" y="1611367"/>
            <a:ext cx="11229356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u="sng" dirty="0" err="1">
                <a:solidFill>
                  <a:schemeClr val="bg1"/>
                </a:solidFill>
                <a:latin typeface="Arial Rounded MT Bold" panose="020F0704030504030204" pitchFamily="34" charset="77"/>
              </a:rPr>
              <a:t>ClauseEase</a:t>
            </a:r>
            <a:endParaRPr lang="en-US" sz="15000" u="sng" dirty="0">
              <a:solidFill>
                <a:schemeClr val="bg1"/>
              </a:solidFill>
              <a:latin typeface="Arial Rounded MT Bold" panose="020F0704030504030204" pitchFamily="34" charset="77"/>
            </a:endParaRPr>
          </a:p>
          <a:p>
            <a:pPr algn="ctr"/>
            <a:r>
              <a:rPr lang="en-US" sz="4400" u="sng" dirty="0">
                <a:solidFill>
                  <a:schemeClr val="bg1"/>
                </a:solidFill>
                <a:latin typeface="Arial Rounded MT Bold" panose="020F0704030504030204" pitchFamily="34" charset="77"/>
              </a:rPr>
              <a:t>AI Chatbot</a:t>
            </a:r>
          </a:p>
        </p:txBody>
      </p:sp>
    </p:spTree>
    <p:extLst>
      <p:ext uri="{BB962C8B-B14F-4D97-AF65-F5344CB8AC3E}">
        <p14:creationId xmlns:p14="http://schemas.microsoft.com/office/powerpoint/2010/main" val="145931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DD2EA4-A981-3D99-4215-873A8A433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69C358-AED2-83E5-33ED-80F1B217ECB6}"/>
              </a:ext>
            </a:extLst>
          </p:cNvPr>
          <p:cNvSpPr txBox="1"/>
          <p:nvPr/>
        </p:nvSpPr>
        <p:spPr>
          <a:xfrm>
            <a:off x="122663" y="1493802"/>
            <a:ext cx="1182381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Now at first, like what are the need of this chatbot </a:t>
            </a:r>
          </a:p>
          <a:p>
            <a:r>
              <a:rPr lang="en-US" sz="4400" dirty="0">
                <a:solidFill>
                  <a:schemeClr val="bg1"/>
                </a:solidFill>
              </a:rPr>
              <a:t>and why to build it ???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26A14-CAF3-5DB5-EF22-535B53228859}"/>
              </a:ext>
            </a:extLst>
          </p:cNvPr>
          <p:cNvSpPr txBox="1"/>
          <p:nvPr/>
        </p:nvSpPr>
        <p:spPr>
          <a:xfrm>
            <a:off x="122663" y="3317484"/>
            <a:ext cx="121728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Let’s start with the problem. We all know how powerful AI models like </a:t>
            </a:r>
            <a:r>
              <a:rPr lang="en-US" sz="2400" dirty="0" err="1">
                <a:solidFill>
                  <a:schemeClr val="bg1"/>
                </a:solidFill>
              </a:rPr>
              <a:t>ChatGPT</a:t>
            </a:r>
            <a:r>
              <a:rPr lang="en-US" sz="2400" dirty="0">
                <a:solidFill>
                  <a:schemeClr val="bg1"/>
                </a:solidFill>
              </a:rPr>
              <a:t> are. However, 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 an enterprise environment like Infosys, we cannot simply upload sensitive internal documents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—like client contracts or project architectures—to a public cloud server due to data privacy and 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security risks.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So here comes this project in the picture.</a:t>
            </a:r>
          </a:p>
        </p:txBody>
      </p:sp>
    </p:spTree>
    <p:extLst>
      <p:ext uri="{BB962C8B-B14F-4D97-AF65-F5344CB8AC3E}">
        <p14:creationId xmlns:p14="http://schemas.microsoft.com/office/powerpoint/2010/main" val="182606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55E236-3111-C80E-D17D-F5037660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3D3A8C-2AFE-ADB1-EB4F-2B7E83DCBF2F}"/>
              </a:ext>
            </a:extLst>
          </p:cNvPr>
          <p:cNvSpPr txBox="1"/>
          <p:nvPr/>
        </p:nvSpPr>
        <p:spPr>
          <a:xfrm>
            <a:off x="122663" y="113990"/>
            <a:ext cx="5586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Behind the Scenes: My Chatbot Code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7062E-316F-B426-8E47-4F6C74996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04" y="803896"/>
            <a:ext cx="7695833" cy="581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3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35F8A2-E896-3980-5AE2-AADD4DABD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15C7A-8A96-F750-BD33-37532898E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807" y="493178"/>
            <a:ext cx="7772400" cy="58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4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70F840-A456-80B0-BCC5-9E27637D9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595289-6814-2B99-4B6F-F026E3BB1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827" y="493178"/>
            <a:ext cx="7772400" cy="58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4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BF7F60-B8F7-2983-F144-49B73990F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7F177F-F9FA-AE56-9967-5137037C8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906" y="493178"/>
            <a:ext cx="7772400" cy="58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3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E3B06D-6AC7-4D85-B421-2015EDB5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BA2603-48DB-587C-47CA-3A7EF8DEB4FF}"/>
              </a:ext>
            </a:extLst>
          </p:cNvPr>
          <p:cNvSpPr txBox="1"/>
          <p:nvPr/>
        </p:nvSpPr>
        <p:spPr>
          <a:xfrm>
            <a:off x="122663" y="724361"/>
            <a:ext cx="88049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u="sng" dirty="0">
                <a:solidFill>
                  <a:schemeClr val="bg1"/>
                </a:solidFill>
                <a:latin typeface="Arial Rounded MT Bold" panose="020F0704030504030204" pitchFamily="34" charset="77"/>
              </a:rPr>
              <a:t>Till this, What I learned new !!??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B279C-0734-2055-9344-E15E32437F39}"/>
              </a:ext>
            </a:extLst>
          </p:cNvPr>
          <p:cNvSpPr txBox="1"/>
          <p:nvPr/>
        </p:nvSpPr>
        <p:spPr>
          <a:xfrm>
            <a:off x="122663" y="1493802"/>
            <a:ext cx="122589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I explored </a:t>
            </a:r>
            <a:r>
              <a:rPr lang="en-US" sz="3200" b="1" i="0" u="none" strike="noStrike" dirty="0">
                <a:solidFill>
                  <a:schemeClr val="bg1"/>
                </a:solidFill>
                <a:effectLst/>
              </a:rPr>
              <a:t>Streamlit</a:t>
            </a:r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to understand how web-based AI interfaces are </a:t>
            </a:r>
          </a:p>
          <a:p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created. I used it to </a:t>
            </a:r>
            <a:r>
              <a:rPr lang="en-US" sz="3200" b="1" i="0" u="none" strike="noStrike" dirty="0">
                <a:solidFill>
                  <a:schemeClr val="bg1"/>
                </a:solidFill>
                <a:effectLst/>
              </a:rPr>
              <a:t>design and develop a Chatbot UI</a:t>
            </a:r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that interacts with </a:t>
            </a:r>
          </a:p>
          <a:p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users in real time.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ED7F4-5547-C48B-E240-BF76A709B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21" y="3714975"/>
            <a:ext cx="4132201" cy="241866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031410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30686F-E6F2-296B-54D5-96852D2AE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D8ED19-0B11-38C8-855E-729D344397A5}"/>
              </a:ext>
            </a:extLst>
          </p:cNvPr>
          <p:cNvSpPr txBox="1"/>
          <p:nvPr/>
        </p:nvSpPr>
        <p:spPr>
          <a:xfrm>
            <a:off x="174172" y="1493802"/>
            <a:ext cx="114758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Now we know that LLMs have token limit, so we have to redesign our chatbot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39CCE-7A41-02B4-6CBF-14859F02A55B}"/>
              </a:ext>
            </a:extLst>
          </p:cNvPr>
          <p:cNvSpPr txBox="1"/>
          <p:nvPr/>
        </p:nvSpPr>
        <p:spPr>
          <a:xfrm>
            <a:off x="2768358" y="3396834"/>
            <a:ext cx="66552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Restructuring our Chatbot !!</a:t>
            </a:r>
          </a:p>
        </p:txBody>
      </p:sp>
    </p:spTree>
    <p:extLst>
      <p:ext uri="{BB962C8B-B14F-4D97-AF65-F5344CB8AC3E}">
        <p14:creationId xmlns:p14="http://schemas.microsoft.com/office/powerpoint/2010/main" val="42883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A71147-0E78-3472-3736-9C081D2B3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779AEE-1182-F725-9282-617E3F1C4A49}"/>
              </a:ext>
            </a:extLst>
          </p:cNvPr>
          <p:cNvSpPr txBox="1"/>
          <p:nvPr/>
        </p:nvSpPr>
        <p:spPr>
          <a:xfrm>
            <a:off x="122663" y="803896"/>
            <a:ext cx="63752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Let’s Start with Chunking 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EAA30-519A-27B8-BF10-11F55E27799C}"/>
              </a:ext>
            </a:extLst>
          </p:cNvPr>
          <p:cNvSpPr txBox="1"/>
          <p:nvPr/>
        </p:nvSpPr>
        <p:spPr>
          <a:xfrm>
            <a:off x="122663" y="1707452"/>
            <a:ext cx="1185221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0" u="none" strike="noStrike" dirty="0">
                <a:solidFill>
                  <a:schemeClr val="bg1"/>
                </a:solidFill>
                <a:effectLst/>
              </a:rPr>
              <a:t>Chunking in chatbots</a:t>
            </a:r>
            <a:r>
              <a:rPr lang="en-US" sz="2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means </a:t>
            </a:r>
            <a:r>
              <a:rPr lang="en-US" sz="2400" b="1" i="0" u="none" strike="noStrike" dirty="0">
                <a:solidFill>
                  <a:schemeClr val="bg1"/>
                </a:solidFill>
                <a:effectLst/>
              </a:rPr>
              <a:t>breaking large pieces of text into smaller, manageable parts </a:t>
            </a:r>
          </a:p>
          <a:p>
            <a:r>
              <a:rPr lang="en-US" sz="2400" b="1" i="0" u="none" strike="noStrike" dirty="0">
                <a:solidFill>
                  <a:schemeClr val="bg1"/>
                </a:solidFill>
                <a:effectLst/>
              </a:rPr>
              <a:t>(chunks)</a:t>
            </a:r>
            <a:r>
              <a:rPr lang="en-US" sz="2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so that the chatbot can understand, store, and retrieve information more accurately.</a:t>
            </a:r>
          </a:p>
          <a:p>
            <a:endParaRPr lang="en-US" sz="2400" dirty="0">
              <a:solidFill>
                <a:schemeClr val="bg1"/>
              </a:solidFill>
              <a:latin typeface="-webkit-standard"/>
            </a:endParaRPr>
          </a:p>
          <a:p>
            <a:pPr algn="l"/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Models (LLMs) have a </a:t>
            </a:r>
            <a:r>
              <a:rPr lang="en-US" sz="2400" b="1" i="0" u="none" strike="noStrike" dirty="0">
                <a:solidFill>
                  <a:schemeClr val="bg1"/>
                </a:solidFill>
                <a:effectLst/>
              </a:rPr>
              <a:t>token limit</a:t>
            </a:r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.</a:t>
            </a:r>
            <a:br>
              <a:rPr lang="en-US" sz="2400" b="0" i="0" u="none" strike="noStrike" dirty="0">
                <a:solidFill>
                  <a:schemeClr val="bg1"/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If you give it a long document (PDF, article, book chapter), the model </a:t>
            </a:r>
            <a:r>
              <a:rPr lang="en-US" sz="2400" b="1" i="0" u="none" strike="noStrike" dirty="0">
                <a:solidFill>
                  <a:schemeClr val="bg1"/>
                </a:solidFill>
                <a:effectLst/>
              </a:rPr>
              <a:t>cannot process all of it </a:t>
            </a:r>
          </a:p>
          <a:p>
            <a:pPr algn="l"/>
            <a:r>
              <a:rPr lang="en-US" sz="2400" b="1" i="0" u="none" strike="noStrike" dirty="0">
                <a:solidFill>
                  <a:schemeClr val="bg1"/>
                </a:solidFill>
                <a:effectLst/>
              </a:rPr>
              <a:t>at once</a:t>
            </a:r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.</a:t>
            </a:r>
          </a:p>
          <a:p>
            <a:pPr algn="l"/>
            <a:br>
              <a:rPr lang="en-US" sz="2400" b="0" i="0" u="none" strike="noStrike" dirty="0">
                <a:solidFill>
                  <a:schemeClr val="bg1"/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So we split the document into small chunks, like: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 300–500 words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 or based on sentences/paragraphs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chemeClr val="bg1"/>
                </a:solidFill>
                <a:effectLst/>
              </a:rPr>
              <a:t> or fixed token size (e.g., 256 tokens per chunk)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912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DCCA6B-6937-F64C-ABAE-9C519EF4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488B38-16B3-7489-6039-B85EE05F8E16}"/>
              </a:ext>
            </a:extLst>
          </p:cNvPr>
          <p:cNvSpPr txBox="1"/>
          <p:nvPr/>
        </p:nvSpPr>
        <p:spPr>
          <a:xfrm>
            <a:off x="0" y="1493802"/>
            <a:ext cx="1173712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Now Chunking is one thing, and there are other technologies also, so </a:t>
            </a:r>
          </a:p>
          <a:p>
            <a:r>
              <a:rPr lang="en-US" sz="3200" dirty="0">
                <a:solidFill>
                  <a:schemeClr val="bg1"/>
                </a:solidFill>
              </a:rPr>
              <a:t>let’s move onto the technology stack.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Technology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Frontend (UI):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 - For a simple, interactive web interface in Python.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AI Model Server: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Ollama</a:t>
            </a:r>
            <a:r>
              <a:rPr lang="en-US" sz="2400" dirty="0">
                <a:solidFill>
                  <a:schemeClr val="bg1"/>
                </a:solidFill>
              </a:rPr>
              <a:t> - For running Large Language Models (LLMs) locally.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LLM: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Llama 3</a:t>
            </a:r>
            <a:r>
              <a:rPr lang="en-US" sz="2400" dirty="0">
                <a:solidFill>
                  <a:schemeClr val="bg1"/>
                </a:solidFill>
              </a:rPr>
              <a:t> (by Meta) - For generating human-like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Vector Database: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ChromaDB</a:t>
            </a:r>
            <a:r>
              <a:rPr lang="en-US" sz="2400" dirty="0">
                <a:solidFill>
                  <a:schemeClr val="bg1"/>
                </a:solidFill>
              </a:rPr>
              <a:t> - For storing and searching document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PDF Processing: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PyPDF</a:t>
            </a:r>
            <a:r>
              <a:rPr lang="en-US" sz="2400" dirty="0">
                <a:solidFill>
                  <a:schemeClr val="bg1"/>
                </a:solidFill>
              </a:rPr>
              <a:t> - For extracting text from documents.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Language: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Python</a:t>
            </a:r>
            <a:r>
              <a:rPr lang="en-US" sz="2400" dirty="0">
                <a:solidFill>
                  <a:schemeClr val="bg1"/>
                </a:solidFill>
              </a:rPr>
              <a:t> - The core programming language for all logic.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285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B943C3-2937-4997-0546-F02D9C300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AC3068-C837-EB0A-683D-33051796B85A}"/>
              </a:ext>
            </a:extLst>
          </p:cNvPr>
          <p:cNvSpPr txBox="1"/>
          <p:nvPr/>
        </p:nvSpPr>
        <p:spPr>
          <a:xfrm>
            <a:off x="122663" y="570472"/>
            <a:ext cx="6447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Output (Chatbot-UI) 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1E115-0BFA-37EE-94A8-95F9B7D4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959" y="1493802"/>
            <a:ext cx="8926081" cy="51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99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110C4D-420D-C4BD-A3CA-BBF5233B5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055E73-E9C3-4E28-701F-10D0970E9470}"/>
              </a:ext>
            </a:extLst>
          </p:cNvPr>
          <p:cNvSpPr txBox="1"/>
          <p:nvPr/>
        </p:nvSpPr>
        <p:spPr>
          <a:xfrm>
            <a:off x="122663" y="1032137"/>
            <a:ext cx="7648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Overall Project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AB5AF-0252-7D7D-0EF3-A04A2491AACD}"/>
              </a:ext>
            </a:extLst>
          </p:cNvPr>
          <p:cNvSpPr txBox="1"/>
          <p:nvPr/>
        </p:nvSpPr>
        <p:spPr>
          <a:xfrm>
            <a:off x="122663" y="2046116"/>
            <a:ext cx="1225829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 gained hands-on experience of using </a:t>
            </a:r>
            <a:r>
              <a:rPr lang="en-US" sz="2400" dirty="0" err="1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, to build fully interactive web applications </a:t>
            </a:r>
          </a:p>
          <a:p>
            <a:r>
              <a:rPr lang="en-US" sz="2400" dirty="0">
                <a:solidFill>
                  <a:schemeClr val="bg1"/>
                </a:solidFill>
              </a:rPr>
              <a:t>Purely with python without using Html and CSS, learned how to design clean and responsive UIs.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Learned the importance of virtual environments and how to debug complex dependency errors.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Learned about LLMs and we can use them to integrate it in our chatbot.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This gave me a much deeper understanding of the underlying logic of chunking, embedding, and 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retrieval, rather than just relying on a black-box function.</a:t>
            </a:r>
          </a:p>
        </p:txBody>
      </p:sp>
    </p:spTree>
    <p:extLst>
      <p:ext uri="{BB962C8B-B14F-4D97-AF65-F5344CB8AC3E}">
        <p14:creationId xmlns:p14="http://schemas.microsoft.com/office/powerpoint/2010/main" val="351165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2C4463-5582-72FA-CED8-32F87D62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909" y="113990"/>
            <a:ext cx="2269428" cy="137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62705D-B46A-8843-0862-2B77EDE616F3}"/>
              </a:ext>
            </a:extLst>
          </p:cNvPr>
          <p:cNvSpPr txBox="1"/>
          <p:nvPr/>
        </p:nvSpPr>
        <p:spPr>
          <a:xfrm>
            <a:off x="3373139" y="2828835"/>
            <a:ext cx="54457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Lucida Calligraphy" panose="03010101010101010101" pitchFamily="66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8518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474</Words>
  <Application>Microsoft Macintosh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-webkit-standard</vt:lpstr>
      <vt:lpstr>Arial</vt:lpstr>
      <vt:lpstr>Arial Rounded MT Bold</vt:lpstr>
      <vt:lpstr>Calibri</vt:lpstr>
      <vt:lpstr>Calibri Light</vt:lpstr>
      <vt:lpstr>Lucida Calligraphy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Mudit Sharma</dc:creator>
  <cp:lastModifiedBy>Mudit Sharma</cp:lastModifiedBy>
  <cp:revision>4</cp:revision>
  <dcterms:created xsi:type="dcterms:W3CDTF">2025-10-29T14:01:03Z</dcterms:created>
  <dcterms:modified xsi:type="dcterms:W3CDTF">2025-12-10T15:52:49Z</dcterms:modified>
</cp:coreProperties>
</file>